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1600200"/>
            <a:ext cx="11018520" cy="4434840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C8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783080"/>
            <a:ext cx="2651760" cy="347472"/>
          </a:xfrm>
          <a:prstGeom prst="roundRect">
            <a:avLst/>
          </a:prstGeom>
          <a:solidFill>
            <a:srgbClr val="00808A"/>
          </a:solidFill>
          <a:ln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783080"/>
            <a:ext cx="3108960" cy="347472"/>
          </a:xfrm>
          <a:prstGeom prst="roundRect">
            <a:avLst/>
          </a:prstGeom>
          <a:solidFill>
            <a:srgbClr val="00808A"/>
          </a:solidFill>
          <a:ln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Feature &amp; Graph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1783080"/>
            <a:ext cx="3566160" cy="347472"/>
          </a:xfrm>
          <a:prstGeom prst="roundRect">
            <a:avLst/>
          </a:prstGeom>
          <a:solidFill>
            <a:srgbClr val="00808A"/>
          </a:solidFill>
          <a:ln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Approved Split Protocol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2971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03320" y="2240280"/>
            <a:ext cx="34290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69480" y="2240280"/>
            <a:ext cx="3703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00808A"/>
                </a:solidFill>
              </a:rPr>
              <a:t>• </a:t>
            </a:r>
            <a:r>
              <a:rPr sz="1250">
                <a:solidFill>
                  <a:srgbClr val="051840"/>
                </a:solidFill>
              </a:rPr>
              <a:t>NinaPro DB2 surface EMG dataset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808A"/>
                </a:solidFill>
              </a:rPr>
              <a:t>• </a:t>
            </a:r>
            <a:r>
              <a:rPr sz="1250">
                <a:solidFill>
                  <a:srgbClr val="051840"/>
                </a:solidFill>
              </a:rPr>
              <a:t>Exercise B / E1 used for the study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808A"/>
                </a:solidFill>
              </a:rPr>
              <a:t>• </a:t>
            </a:r>
            <a:r>
              <a:rPr sz="1250">
                <a:solidFill>
                  <a:srgbClr val="051840"/>
                </a:solidFill>
              </a:rPr>
              <a:t>40 subjects, 12 EMG channels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808A"/>
                </a:solidFill>
              </a:rPr>
              <a:t>• </a:t>
            </a:r>
            <a:r>
              <a:rPr sz="1250">
                <a:solidFill>
                  <a:srgbClr val="051840"/>
                </a:solidFill>
              </a:rPr>
              <a:t>17 active hand gestures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808A"/>
                </a:solidFill>
              </a:rPr>
              <a:t>• </a:t>
            </a:r>
            <a:r>
              <a:rPr sz="1250">
                <a:solidFill>
                  <a:srgbClr val="051840"/>
                </a:solidFill>
              </a:rPr>
              <a:t>Multiclass gesture-recognition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468880"/>
            <a:ext cx="2926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808A"/>
                </a:solidFill>
              </a:rPr>
              <a:t>• </a:t>
            </a:r>
            <a:r>
              <a:rPr sz="1200">
                <a:solidFill>
                  <a:srgbClr val="051840"/>
                </a:solidFill>
              </a:rPr>
              <a:t>Window size: 400 samples; step: 200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808A"/>
                </a:solidFill>
              </a:rPr>
              <a:t>• </a:t>
            </a:r>
            <a:r>
              <a:rPr sz="1200">
                <a:solidFill>
                  <a:srgbClr val="051840"/>
                </a:solidFill>
              </a:rPr>
              <a:t>Baseline vector: 246 engineered features → selected 200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808A"/>
                </a:solidFill>
              </a:rPr>
              <a:t>• </a:t>
            </a:r>
            <a:r>
              <a:rPr sz="1200">
                <a:solidFill>
                  <a:srgbClr val="051840"/>
                </a:solidFill>
              </a:rPr>
              <a:t>GNN nodes: 12 electrodes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808A"/>
                </a:solidFill>
              </a:rPr>
              <a:t>• </a:t>
            </a:r>
            <a:r>
              <a:rPr sz="1200">
                <a:solidFill>
                  <a:srgbClr val="051840"/>
                </a:solidFill>
              </a:rPr>
              <a:t>Node features: 15 descriptors/electrode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808A"/>
                </a:solidFill>
              </a:rPr>
              <a:t>• </a:t>
            </a:r>
            <a:r>
              <a:rPr sz="1200">
                <a:solidFill>
                  <a:srgbClr val="051840"/>
                </a:solidFill>
              </a:rPr>
              <a:t>Edges: sample-specific top-k=5 electrode correlations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542032"/>
            <a:ext cx="3154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00808A"/>
                </a:solidFill>
              </a:rPr>
              <a:t>• </a:t>
            </a:r>
            <a:r>
              <a:rPr sz="1250">
                <a:solidFill>
                  <a:srgbClr val="051840"/>
                </a:solidFill>
              </a:rPr>
              <a:t>Train repetitions: 1, 3, 4, 6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808A"/>
                </a:solidFill>
              </a:rPr>
              <a:t>• </a:t>
            </a:r>
            <a:r>
              <a:rPr sz="1250">
                <a:solidFill>
                  <a:srgbClr val="051840"/>
                </a:solidFill>
              </a:rPr>
              <a:t>Test repetitions: 2, 5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808A"/>
                </a:solidFill>
              </a:rPr>
              <a:t>• </a:t>
            </a:r>
            <a:r>
              <a:rPr sz="1250">
                <a:solidFill>
                  <a:srgbClr val="051840"/>
                </a:solidFill>
              </a:rPr>
              <a:t>Same protocol used across Tasks 1–3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808A"/>
                </a:solidFill>
              </a:rPr>
              <a:t>• </a:t>
            </a:r>
            <a:r>
              <a:rPr sz="1250">
                <a:solidFill>
                  <a:srgbClr val="051840"/>
                </a:solidFill>
              </a:rPr>
              <a:t>Task 3 dev split: 1,3,4 train and rep 6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5349240"/>
            <a:ext cx="9372600" cy="457200"/>
          </a:xfrm>
          <a:prstGeom prst="roundRect">
            <a:avLst/>
          </a:prstGeom>
          <a:solidFill>
            <a:srgbClr val="E4F8F9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5422392"/>
            <a:ext cx="8869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051840"/>
                </a:solidFill>
              </a:rPr>
              <a:t>Each EMG window is represented as a feature vector for baselines or as a dynamic electrode graph for the GNN.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1600200"/>
            <a:ext cx="11018520" cy="4434840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C8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00808A"/>
                </a:solidFill>
              </a:rPr>
              <a:t>1. Class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28600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051840"/>
                </a:solidFill>
              </a:rPr>
              <a:t>All 17 Exercise-B gestures are represented in the active-gesture subset.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78308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93852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00808A"/>
                </a:solidFill>
              </a:rPr>
              <a:t>2. Balanced segments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0752" y="228600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051840"/>
                </a:solidFill>
              </a:rPr>
              <a:t>Training segments were balanced: 2,720 active segments, 160 per gesture.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78308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3852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00808A"/>
                </a:solidFill>
              </a:rPr>
              <a:t>3. Windowed 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1" y="228600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051840"/>
                </a:solidFill>
              </a:rPr>
              <a:t>Sliding-window extraction produced 181,434 modeling windows.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1783080"/>
            <a:ext cx="2514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59" y="1938528"/>
            <a:ext cx="2240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00808A"/>
                </a:solidFill>
              </a:rPr>
              <a:t>4. Data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1" y="2286000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051840"/>
                </a:solidFill>
              </a:rPr>
              <a:t>Files, labels, repetitions, finite values, and split consistency were checked.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337560"/>
            <a:ext cx="49834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49300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51840"/>
                </a:solidFill>
              </a:rPr>
              <a:t>EDA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3840480"/>
            <a:ext cx="2882646" cy="256032"/>
          </a:xfrm>
          <a:prstGeom prst="rect">
            <a:avLst/>
          </a:prstGeom>
          <a:solidFill>
            <a:srgbClr val="05184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7085" y="3840480"/>
            <a:ext cx="1552193" cy="256032"/>
          </a:xfrm>
          <a:prstGeom prst="rect">
            <a:avLst/>
          </a:prstGeom>
          <a:solidFill>
            <a:srgbClr val="05184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4096512"/>
            <a:ext cx="2882646" cy="25603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1">
                <a:solidFill>
                  <a:srgbClr val="051840"/>
                </a:solidFill>
              </a:rPr>
              <a:t>Active gestures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7085" y="4096512"/>
            <a:ext cx="1552193" cy="25603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4352544"/>
            <a:ext cx="2882646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051840"/>
                </a:solidFill>
              </a:rPr>
              <a:t>Training segments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7085" y="4352544"/>
            <a:ext cx="1552193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2,720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4608576"/>
            <a:ext cx="2882646" cy="25603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051840"/>
                </a:solidFill>
              </a:rPr>
              <a:t>Segments / gesture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7085" y="4608576"/>
            <a:ext cx="1552193" cy="25603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160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4440" y="4864608"/>
            <a:ext cx="2882646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051840"/>
                </a:solidFill>
              </a:rPr>
              <a:t>Total windows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7085" y="4864608"/>
            <a:ext cx="1552193" cy="256032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181,434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34440" y="5120640"/>
            <a:ext cx="2882646" cy="25603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051840"/>
                </a:solidFill>
              </a:rPr>
              <a:t>Train / Test windows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7085" y="5120640"/>
            <a:ext cx="1552193" cy="25603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121,173 / 60,261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337560"/>
            <a:ext cx="4800600" cy="205740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611880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08A"/>
                </a:solidFill>
              </a:rPr>
              <a:t>EDA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069080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51840"/>
                </a:solidFill>
              </a:rPr>
              <a:t>NinaPro DB2 Exercise B provides a suitable multi-channel sEMG setting for both classical baselines and graph-based learning. Treating the 12 electrodes as connected nodes is a meaningful modeling choice.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532120"/>
            <a:ext cx="10332720" cy="347472"/>
          </a:xfrm>
          <a:prstGeom prst="roundRect">
            <a:avLst/>
          </a:prstGeom>
          <a:solidFill>
            <a:srgbClr val="E4F8F9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596128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051840"/>
                </a:solidFill>
              </a:rPr>
              <a:t>Task 1 established the dataset understanding, preprocessing logic, and motivation for graph-based modeling.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1508760"/>
            <a:ext cx="11018520" cy="4572000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C8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42062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08A"/>
                </a:solidFill>
              </a:rPr>
              <a:t>Seven baseline models evaluated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286000"/>
            <a:ext cx="2253996" cy="301752"/>
          </a:xfrm>
          <a:prstGeom prst="rect">
            <a:avLst/>
          </a:prstGeom>
          <a:solidFill>
            <a:srgbClr val="05184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4115" y="2286000"/>
            <a:ext cx="1632204" cy="301752"/>
          </a:xfrm>
          <a:prstGeom prst="rect">
            <a:avLst/>
          </a:prstGeom>
          <a:solidFill>
            <a:srgbClr val="05184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587752"/>
            <a:ext cx="2253996" cy="30175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1">
                <a:solidFill>
                  <a:srgbClr val="051840"/>
                </a:solidFill>
              </a:rPr>
              <a:t>Logistic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4115" y="2587752"/>
            <a:ext cx="1632204" cy="30175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Linear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889504"/>
            <a:ext cx="2253996" cy="301752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051840"/>
                </a:solidFill>
              </a:rPr>
              <a:t>Linear SVM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4115" y="2889504"/>
            <a:ext cx="1632204" cy="301752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Linear margin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3191256"/>
            <a:ext cx="2253996" cy="30175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051840"/>
                </a:solidFill>
              </a:rPr>
              <a:t>Decision Tree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4115" y="3191256"/>
            <a:ext cx="1632204" cy="30175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Tree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493008"/>
            <a:ext cx="2253996" cy="301752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051840"/>
                </a:solidFill>
              </a:rPr>
              <a:t>Random Forest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4115" y="3493008"/>
            <a:ext cx="1632204" cy="301752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Bagging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794760"/>
            <a:ext cx="2253996" cy="30175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051840"/>
                </a:solidFill>
              </a:rPr>
              <a:t>Gradient Boosting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4115" y="3794760"/>
            <a:ext cx="1632204" cy="30175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Boosting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096512"/>
            <a:ext cx="2253996" cy="301752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051840"/>
                </a:solidFill>
              </a:rPr>
              <a:t>XGBoost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4115" y="4096512"/>
            <a:ext cx="1632204" cy="301752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Boosting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398264"/>
            <a:ext cx="2253996" cy="30175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>
                <a:solidFill>
                  <a:srgbClr val="051840"/>
                </a:solidFill>
              </a:rPr>
              <a:t>MLP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4115" y="4398264"/>
            <a:ext cx="1632204" cy="301752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>
                <a:solidFill>
                  <a:srgbClr val="051840"/>
                </a:solidFill>
              </a:rPr>
              <a:t>Neural 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17830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51840"/>
                </a:solidFill>
              </a:rPr>
              <a:t>Best baseline: XGBoost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2240280"/>
            <a:ext cx="53949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2359152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>
                <a:solidFill>
                  <a:srgbClr val="051840"/>
                </a:solidFill>
              </a:rPr>
              <a:t>XGBoost achieved the highest baseline result under the approved repetition-wise split: 77.69% accuracy and 77.39% Macro-F1.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1272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1840"/>
                </a:solidFill>
              </a:rPr>
              <a:t>Baseline ranking by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44728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051840"/>
                </a:solidFill>
              </a:rPr>
              <a:t>XGBoost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3474720"/>
            <a:ext cx="3063240" cy="112079"/>
          </a:xfrm>
          <a:prstGeom prst="rect">
            <a:avLst/>
          </a:prstGeom>
          <a:solidFill>
            <a:srgbClr val="DDEBF4"/>
          </a:solidFill>
          <a:ln>
            <a:solidFill>
              <a:srgbClr val="DD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0" y="3474720"/>
            <a:ext cx="2799801" cy="112079"/>
          </a:xfrm>
          <a:prstGeom prst="rect">
            <a:avLst/>
          </a:prstGeom>
          <a:solidFill>
            <a:srgbClr val="00808A"/>
          </a:solidFill>
          <a:ln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6129" y="344728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51840"/>
                </a:solidFill>
              </a:rPr>
              <a:t>77.69%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65106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051840"/>
                </a:solidFill>
              </a:rPr>
              <a:t>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3678500"/>
            <a:ext cx="3063240" cy="112079"/>
          </a:xfrm>
          <a:prstGeom prst="rect">
            <a:avLst/>
          </a:prstGeom>
          <a:solidFill>
            <a:srgbClr val="DDEBF4"/>
          </a:solidFill>
          <a:ln>
            <a:solidFill>
              <a:srgbClr val="DD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0" y="3678500"/>
            <a:ext cx="2783584" cy="112079"/>
          </a:xfrm>
          <a:prstGeom prst="rect">
            <a:avLst/>
          </a:prstGeom>
          <a:solidFill>
            <a:srgbClr val="005296"/>
          </a:solidFill>
          <a:ln>
            <a:solidFill>
              <a:srgbClr val="00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9912" y="36510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51840"/>
                </a:solidFill>
              </a:rPr>
              <a:t>77.24%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854849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051840"/>
                </a:solidFill>
              </a:rPr>
              <a:t>Grad. Boosting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3882281"/>
            <a:ext cx="3063240" cy="112079"/>
          </a:xfrm>
          <a:prstGeom prst="rect">
            <a:avLst/>
          </a:prstGeom>
          <a:solidFill>
            <a:srgbClr val="DDEBF4"/>
          </a:solidFill>
          <a:ln>
            <a:solidFill>
              <a:srgbClr val="DD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0" y="3882281"/>
            <a:ext cx="2734932" cy="112079"/>
          </a:xfrm>
          <a:prstGeom prst="rect">
            <a:avLst/>
          </a:prstGeom>
          <a:solidFill>
            <a:srgbClr val="005296"/>
          </a:solidFill>
          <a:ln>
            <a:solidFill>
              <a:srgbClr val="00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1260" y="3854849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51840"/>
                </a:solidFill>
              </a:rPr>
              <a:t>75.89%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4058629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051840"/>
                </a:solidFill>
              </a:rPr>
              <a:t>MLP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4086061"/>
            <a:ext cx="3063240" cy="112079"/>
          </a:xfrm>
          <a:prstGeom prst="rect">
            <a:avLst/>
          </a:prstGeom>
          <a:solidFill>
            <a:srgbClr val="DDEBF4"/>
          </a:solidFill>
          <a:ln>
            <a:solidFill>
              <a:srgbClr val="DD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32320" y="4086061"/>
            <a:ext cx="2534200" cy="112079"/>
          </a:xfrm>
          <a:prstGeom prst="rect">
            <a:avLst/>
          </a:prstGeom>
          <a:solidFill>
            <a:srgbClr val="005296"/>
          </a:solidFill>
          <a:ln>
            <a:solidFill>
              <a:srgbClr val="00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0528" y="4058629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51840"/>
                </a:solidFill>
              </a:rPr>
              <a:t>70.32%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426241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051840"/>
                </a:solidFill>
              </a:rPr>
              <a:t>Decision Tree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4289842"/>
            <a:ext cx="3063240" cy="112079"/>
          </a:xfrm>
          <a:prstGeom prst="rect">
            <a:avLst/>
          </a:prstGeom>
          <a:solidFill>
            <a:srgbClr val="DDEBF4"/>
          </a:solidFill>
          <a:ln>
            <a:solidFill>
              <a:srgbClr val="DD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32320" y="4289842"/>
            <a:ext cx="1685502" cy="112079"/>
          </a:xfrm>
          <a:prstGeom prst="rect">
            <a:avLst/>
          </a:prstGeom>
          <a:solidFill>
            <a:srgbClr val="005296"/>
          </a:solidFill>
          <a:ln>
            <a:solidFill>
              <a:srgbClr val="00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81830" y="426241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51840"/>
                </a:solidFill>
              </a:rPr>
              <a:t>46.77%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446619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051840"/>
                </a:solidFill>
              </a:rPr>
              <a:t>Linear SVM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0" y="4493622"/>
            <a:ext cx="3063240" cy="112079"/>
          </a:xfrm>
          <a:prstGeom prst="rect">
            <a:avLst/>
          </a:prstGeom>
          <a:solidFill>
            <a:srgbClr val="DDEBF4"/>
          </a:solidFill>
          <a:ln>
            <a:solidFill>
              <a:srgbClr val="DD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32320" y="4493622"/>
            <a:ext cx="1266739" cy="112079"/>
          </a:xfrm>
          <a:prstGeom prst="rect">
            <a:avLst/>
          </a:prstGeom>
          <a:solidFill>
            <a:srgbClr val="005296"/>
          </a:solidFill>
          <a:ln>
            <a:solidFill>
              <a:srgbClr val="00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63067" y="446619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51840"/>
                </a:solidFill>
              </a:rPr>
              <a:t>35.15%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4669971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051840"/>
                </a:solidFill>
              </a:rPr>
              <a:t>Log. Reg.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4697403"/>
            <a:ext cx="3063240" cy="112079"/>
          </a:xfrm>
          <a:prstGeom prst="rect">
            <a:avLst/>
          </a:prstGeom>
          <a:solidFill>
            <a:srgbClr val="DDEBF4"/>
          </a:solidFill>
          <a:ln>
            <a:solidFill>
              <a:srgbClr val="DD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32320" y="4697403"/>
            <a:ext cx="1255928" cy="112079"/>
          </a:xfrm>
          <a:prstGeom prst="rect">
            <a:avLst/>
          </a:prstGeom>
          <a:solidFill>
            <a:srgbClr val="005296"/>
          </a:solidFill>
          <a:ln>
            <a:solidFill>
              <a:srgbClr val="00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52256" y="4669971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51840"/>
                </a:solidFill>
              </a:rPr>
              <a:t>34.85%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5422392"/>
            <a:ext cx="5394960" cy="420624"/>
          </a:xfrm>
          <a:prstGeom prst="roundRect">
            <a:avLst/>
          </a:prstGeom>
          <a:solidFill>
            <a:srgbClr val="E4F8F9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23560" y="5504688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1">
                <a:solidFill>
                  <a:srgbClr val="051840"/>
                </a:solidFill>
              </a:rPr>
              <a:t>Takeaway: boosting-based and ensemble models became the strongest benchmark for the GNN.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1600200"/>
            <a:ext cx="11384280" cy="4434840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C8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40" b="1">
                <a:solidFill>
                  <a:srgbClr val="051840"/>
                </a:solidFill>
              </a:rPr>
              <a:t>Raw sEMG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441448"/>
            <a:ext cx="1179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051840"/>
                </a:solidFill>
              </a:rPr>
              <a:t>12×400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4812" y="23317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5296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02536" y="1874519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48255" y="2057400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40" b="1">
                <a:solidFill>
                  <a:srgbClr val="051840"/>
                </a:solidFill>
              </a:rPr>
              <a:t>Temporal 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441448"/>
            <a:ext cx="1179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051840"/>
                </a:solidFill>
              </a:rPr>
              <a:t>shared raw-signal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2987" y="23317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5296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874519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2057400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40" b="1">
                <a:solidFill>
                  <a:srgbClr val="00808A"/>
                </a:solidFill>
              </a:rPr>
              <a:t>Node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441448"/>
            <a:ext cx="1179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051840"/>
                </a:solidFill>
              </a:rPr>
              <a:t>12 electrodes × 15 descriptors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1164" y="23317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5296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18888" y="1874519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2057400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40" b="1">
                <a:solidFill>
                  <a:srgbClr val="00808A"/>
                </a:solidFill>
              </a:rPr>
              <a:t>Dynamic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441448"/>
            <a:ext cx="1179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051840"/>
                </a:solidFill>
              </a:rPr>
              <a:t>top-k=5 correlations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9340" y="23317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5296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1874519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4" y="2057400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40" b="1">
                <a:solidFill>
                  <a:srgbClr val="00808A"/>
                </a:solidFill>
              </a:rPr>
              <a:t>3 GAT blocks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441448"/>
            <a:ext cx="1179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051840"/>
                </a:solidFill>
              </a:rPr>
              <a:t>edge-aware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7516" y="23317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5296"/>
                </a:solidFill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874519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2057400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40" b="1">
                <a:solidFill>
                  <a:srgbClr val="051840"/>
                </a:solidFill>
              </a:rPr>
              <a:t>Readout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2441448"/>
            <a:ext cx="1179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051840"/>
                </a:solidFill>
              </a:rPr>
              <a:t>attention + mean + 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5692" y="23317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5296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3416" y="1874519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2057400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40" b="1">
                <a:solidFill>
                  <a:srgbClr val="051840"/>
                </a:solidFill>
              </a:rPr>
              <a:t>Fusion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8" y="2441448"/>
            <a:ext cx="1179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051840"/>
                </a:solidFill>
              </a:rPr>
              <a:t>200-feature global MLP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3868" y="2331720"/>
            <a:ext cx="73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5296"/>
                </a:solidFill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51592" y="1874519"/>
            <a:ext cx="1325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97312" y="2057400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40" b="1">
                <a:solidFill>
                  <a:srgbClr val="051840"/>
                </a:solidFill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4744" y="2441448"/>
            <a:ext cx="1179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0">
                <a:solidFill>
                  <a:srgbClr val="051840"/>
                </a:solidFill>
              </a:rPr>
              <a:t>17 gesture classes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429000"/>
            <a:ext cx="5166360" cy="96012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361188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1840"/>
                </a:solidFill>
              </a:rPr>
              <a:t>Why graph? The 12 electrodes are not independent; correlation-based edges let the model learn inter-electrode muscle-activation relationships.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3429000"/>
            <a:ext cx="5166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611880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51840"/>
                </a:solidFill>
              </a:rPr>
              <a:t>Architecture view: raw temporal signal, electrode-level descriptors, dynamic graph attention, and global engineered features are combined for classification.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" y="4800600"/>
            <a:ext cx="9921240" cy="594360"/>
          </a:xfrm>
          <a:prstGeom prst="roundRect">
            <a:avLst/>
          </a:prstGeom>
          <a:solidFill>
            <a:srgbClr val="E4F8F9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4965192"/>
            <a:ext cx="9464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51840"/>
                </a:solidFill>
              </a:rPr>
              <a:t>The proposed ST-EGAT is aligned with the multi-channel structure of sEMG gesture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1554480"/>
            <a:ext cx="10835640" cy="4389120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C8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43000" y="1783080"/>
            <a:ext cx="9921240" cy="64008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64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51840"/>
                </a:solidFill>
              </a:rPr>
              <a:t>First proposed ST-EGAT outperformed the strongest classical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697480"/>
            <a:ext cx="3017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051840"/>
                </a:solidFill>
              </a:rPr>
              <a:t>XGBoost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005296"/>
                </a:solidFill>
              </a:rPr>
              <a:t>77.69%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935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51840"/>
                </a:solidFill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130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65269"/>
                </a:solidFill>
              </a:rPr>
              <a:t>77.39% Macro-F1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697480"/>
            <a:ext cx="3017520" cy="1325880"/>
          </a:xfrm>
          <a:prstGeom prst="roundRect">
            <a:avLst/>
          </a:prstGeom>
          <a:solidFill>
            <a:srgbClr val="E6F9F7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8803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051840"/>
                </a:solidFill>
              </a:rPr>
              <a:t>First ST-EGAT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00808A"/>
                </a:solidFill>
              </a:rPr>
              <a:t>81.16%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935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51840"/>
                </a:solidFill>
              </a:rP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8130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65269"/>
                </a:solidFill>
              </a:rPr>
              <a:t>80.98% Macro-F1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697480"/>
            <a:ext cx="30175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28803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051840"/>
                </a:solidFill>
              </a:rPr>
              <a:t>Macro-F1 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005296"/>
                </a:solidFill>
              </a:rPr>
              <a:t>+3.59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5935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51840"/>
                </a:solidFill>
              </a:rPr>
              <a:t>vs. 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38130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65269"/>
                </a:solidFill>
              </a:rPr>
              <a:t>Accuracy gain: +3.47 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343400"/>
            <a:ext cx="2578608" cy="310896"/>
          </a:xfrm>
          <a:prstGeom prst="rect">
            <a:avLst/>
          </a:prstGeom>
          <a:solidFill>
            <a:srgbClr val="05184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8" y="4343400"/>
            <a:ext cx="1547164" cy="310896"/>
          </a:xfrm>
          <a:prstGeom prst="rect">
            <a:avLst/>
          </a:prstGeom>
          <a:solidFill>
            <a:srgbClr val="05184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54572" y="4343400"/>
            <a:ext cx="1547164" cy="310896"/>
          </a:xfrm>
          <a:prstGeom prst="rect">
            <a:avLst/>
          </a:prstGeom>
          <a:solidFill>
            <a:srgbClr val="05184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Macro-F1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1737" y="4343400"/>
            <a:ext cx="1461211" cy="310896"/>
          </a:xfrm>
          <a:prstGeom prst="rect">
            <a:avLst/>
          </a:prstGeom>
          <a:solidFill>
            <a:srgbClr val="05184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2948" y="4343400"/>
            <a:ext cx="1461211" cy="310896"/>
          </a:xfrm>
          <a:prstGeom prst="rect">
            <a:avLst/>
          </a:prstGeom>
          <a:solidFill>
            <a:srgbClr val="05184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PR-AUC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4654296"/>
            <a:ext cx="2578608" cy="310896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1">
                <a:solidFill>
                  <a:srgbClr val="051840"/>
                </a:solidFill>
              </a:rPr>
              <a:t>XGBoost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8" y="4654296"/>
            <a:ext cx="1547164" cy="310896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51840"/>
                </a:solidFill>
              </a:rPr>
              <a:t>77.69%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54572" y="4654296"/>
            <a:ext cx="1547164" cy="310896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51840"/>
                </a:solidFill>
              </a:rPr>
              <a:t>77.39%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01737" y="4654296"/>
            <a:ext cx="1461211" cy="310896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51840"/>
                </a:solidFill>
              </a:rPr>
              <a:t>98.25%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2948" y="4654296"/>
            <a:ext cx="1461211" cy="310896"/>
          </a:xfrm>
          <a:prstGeom prst="rect">
            <a:avLst/>
          </a:prstGeom>
          <a:solidFill>
            <a:srgbClr val="FCFEFF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51840"/>
                </a:solidFill>
              </a:rPr>
              <a:t>85.99%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4965192"/>
            <a:ext cx="2578608" cy="310896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051840"/>
                </a:solidFill>
              </a:rPr>
              <a:t>First ST-EGAT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4965192"/>
            <a:ext cx="1547164" cy="310896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51840"/>
                </a:solidFill>
              </a:rPr>
              <a:t>81.16%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54572" y="4965192"/>
            <a:ext cx="1547164" cy="310896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51840"/>
                </a:solidFill>
              </a:rPr>
              <a:t>80.98%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01737" y="4965192"/>
            <a:ext cx="1461211" cy="310896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51840"/>
                </a:solidFill>
              </a:rPr>
              <a:t>97.66%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2948" y="4965192"/>
            <a:ext cx="1461211" cy="310896"/>
          </a:xfrm>
          <a:prstGeom prst="rect">
            <a:avLst/>
          </a:prstGeom>
          <a:solidFill>
            <a:srgbClr val="EBF5FB"/>
          </a:solidFill>
          <a:ln w="6350">
            <a:solidFill>
              <a:srgbClr val="C8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051840"/>
                </a:solidFill>
              </a:rPr>
              <a:t>86.93%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28800" y="5285232"/>
            <a:ext cx="8595360" cy="411480"/>
          </a:xfrm>
          <a:prstGeom prst="roundRect">
            <a:avLst/>
          </a:prstGeom>
          <a:solidFill>
            <a:srgbClr val="E4F8F9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537667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20" b="1">
                <a:solidFill>
                  <a:srgbClr val="051840"/>
                </a:solidFill>
              </a:rPr>
              <a:t>Macro-F1 improved with accuracy, indicating a balanced multiclass gain rather than only a headline accuracy change.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1965960"/>
            <a:ext cx="11018520" cy="3977639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C8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21031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1" y="22677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00808A"/>
                </a:solidFill>
              </a:rPr>
              <a:t>Selected 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57860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" b="0">
                <a:solidFill>
                  <a:srgbClr val="051840"/>
                </a:solidFill>
              </a:rPr>
              <a:t>Binary Edges ST-EGAT
Best epoch: 36
Validation Macro-F1: 69.17%
Graph gain vs No Graph: +1.52 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1031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36592" y="22677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005296"/>
                </a:solidFill>
              </a:rPr>
              <a:t>Final held-out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257860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" b="0">
                <a:solidFill>
                  <a:srgbClr val="051840"/>
                </a:solidFill>
              </a:rPr>
              <a:t>XGBoost: 77.69 / 77.39
Task 2 GNN: 81.16 / 80.98
Task 3 GNN: 80.37 / 80.20
(Accuracy / Macro-F1)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19" y="2103120"/>
            <a:ext cx="3383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911" y="226771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00808A"/>
                </a:solidFill>
              </a:rPr>
              <a:t>5-fold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2578608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" b="0">
                <a:solidFill>
                  <a:srgbClr val="051840"/>
                </a:solidFill>
              </a:rPr>
              <a:t>GNN Macro-F1: 67.13 ± 1.65%
XGBoost Macro-F1: 65.10 ± 2.11%
Wilcoxon p = 0.03125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03320"/>
            <a:ext cx="51206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5876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51840"/>
                </a:solidFill>
              </a:rPr>
              <a:t>Ablation snapshot: validation Macro-F1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60520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0">
                <a:solidFill>
                  <a:srgbClr val="051840"/>
                </a:solidFill>
              </a:rPr>
              <a:t>Binary Edges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4187952"/>
            <a:ext cx="2514600" cy="105613"/>
          </a:xfrm>
          <a:prstGeom prst="rect">
            <a:avLst/>
          </a:prstGeom>
          <a:solidFill>
            <a:srgbClr val="DDEBF4"/>
          </a:solidFill>
          <a:ln>
            <a:solidFill>
              <a:srgbClr val="DD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4187952"/>
            <a:ext cx="2415762" cy="105613"/>
          </a:xfrm>
          <a:prstGeom prst="rect">
            <a:avLst/>
          </a:prstGeom>
          <a:solidFill>
            <a:srgbClr val="00808A"/>
          </a:solidFill>
          <a:ln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2970" y="4160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51840"/>
                </a:solidFill>
              </a:rPr>
              <a:t>69.17%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52544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0">
                <a:solidFill>
                  <a:srgbClr val="051840"/>
                </a:solidFill>
              </a:rPr>
              <a:t>No Graph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379976"/>
            <a:ext cx="2514600" cy="105613"/>
          </a:xfrm>
          <a:prstGeom prst="rect">
            <a:avLst/>
          </a:prstGeom>
          <a:solidFill>
            <a:srgbClr val="DDEBF4"/>
          </a:solidFill>
          <a:ln>
            <a:solidFill>
              <a:srgbClr val="DD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4379976"/>
            <a:ext cx="2362676" cy="105613"/>
          </a:xfrm>
          <a:prstGeom prst="rect">
            <a:avLst/>
          </a:prstGeom>
          <a:solidFill>
            <a:srgbClr val="005296"/>
          </a:solidFill>
          <a:ln>
            <a:solidFill>
              <a:srgbClr val="00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9884" y="435254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51840"/>
                </a:solidFill>
              </a:rPr>
              <a:t>67.65%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544568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0">
                <a:solidFill>
                  <a:srgbClr val="051840"/>
                </a:solidFill>
              </a:rPr>
              <a:t>First ST-EGAT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572000"/>
            <a:ext cx="2514600" cy="105613"/>
          </a:xfrm>
          <a:prstGeom prst="rect">
            <a:avLst/>
          </a:prstGeom>
          <a:solidFill>
            <a:srgbClr val="DDEBF4"/>
          </a:solidFill>
          <a:ln>
            <a:solidFill>
              <a:srgbClr val="DD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0" y="4572000"/>
            <a:ext cx="2407380" cy="105613"/>
          </a:xfrm>
          <a:prstGeom prst="rect">
            <a:avLst/>
          </a:prstGeom>
          <a:solidFill>
            <a:srgbClr val="005296"/>
          </a:solidFill>
          <a:ln>
            <a:solidFill>
              <a:srgbClr val="00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4588" y="45445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51840"/>
                </a:solidFill>
              </a:rPr>
              <a:t>68.93%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36592"/>
            <a:ext cx="1508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19" b="0">
                <a:solidFill>
                  <a:srgbClr val="051840"/>
                </a:solidFill>
              </a:rPr>
              <a:t>Final ST-EGAT+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4764024"/>
            <a:ext cx="2514600" cy="105613"/>
          </a:xfrm>
          <a:prstGeom prst="rect">
            <a:avLst/>
          </a:prstGeom>
          <a:solidFill>
            <a:srgbClr val="DDEBF4"/>
          </a:solidFill>
          <a:ln>
            <a:solidFill>
              <a:srgbClr val="DD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0" y="4764024"/>
            <a:ext cx="2404237" cy="105613"/>
          </a:xfrm>
          <a:prstGeom prst="rect">
            <a:avLst/>
          </a:prstGeom>
          <a:solidFill>
            <a:srgbClr val="005296"/>
          </a:solidFill>
          <a:ln>
            <a:solidFill>
              <a:srgbClr val="00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1445" y="473659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051840"/>
                </a:solidFill>
              </a:rPr>
              <a:t>68.84%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703320"/>
            <a:ext cx="4754880" cy="178308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986784"/>
            <a:ext cx="4343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60" b="1">
                <a:solidFill>
                  <a:srgbClr val="051840"/>
                </a:solidFill>
              </a:rPr>
              <a:t>Task 3 strengthened the fairness and robustness of the study through ablation, cross-validation, and significance testing. The final Binary-Edge model stayed close to the first GNN while still beating XGBoost.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1508760"/>
            <a:ext cx="11018520" cy="4572000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C8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737360"/>
            <a:ext cx="10561320" cy="50292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65376"/>
            <a:ext cx="10195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51840"/>
                </a:solidFill>
              </a:rPr>
              <a:t>The final Binary-Edge ST-EGAT was explained using attention, SHAP, and LIME.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697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808A"/>
                </a:solidFill>
              </a:rPr>
              <a:t>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99923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051840"/>
                </a:solidFill>
              </a:rPr>
              <a:t>Electrode attention indicates which channels receive stronger graph-readout importance during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51460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697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5296"/>
                </a:solidFill>
              </a:rPr>
              <a:t>SHAP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99923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051840"/>
                </a:solidFill>
              </a:rPr>
              <a:t>Feature attribution was computed to identify influential engineered sEMG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514600"/>
            <a:ext cx="32461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2697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5296"/>
                </a:solidFill>
              </a:rPr>
              <a:t>LIME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99923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80" b="0">
                <a:solidFill>
                  <a:srgbClr val="051840"/>
                </a:solidFill>
              </a:rPr>
              <a:t>Local explanations were generated for both correct and incorrect predictions.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06908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251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5917E"/>
                </a:solidFill>
              </a:rPr>
              <a:t>Correct prediction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572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51840"/>
                </a:solidFill>
              </a:rPr>
              <a:t>Subject S31, repetition 5
Actual G13 → Predicted G13
Confidence: 99.92%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06908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3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C63E55"/>
                </a:solidFill>
              </a:rPr>
              <a:t>Wrong prediction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51840"/>
                </a:solidFill>
              </a:rPr>
              <a:t>Subject S26, repetition 5
Actual G13 → Predicted G14
Confidence: 99.69%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5596128"/>
            <a:ext cx="7909560" cy="384048"/>
          </a:xfrm>
          <a:prstGeom prst="roundRect">
            <a:avLst/>
          </a:prstGeom>
          <a:solidFill>
            <a:srgbClr val="E4F8F9"/>
          </a:solidFill>
          <a:ln w="12700">
            <a:solidFill>
              <a:srgbClr val="008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5669280"/>
            <a:ext cx="7543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51840"/>
                </a:solidFill>
              </a:rPr>
              <a:t>Top SHAP feature identified in the final explanation: ch11_WAMP.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1508760"/>
            <a:ext cx="10881360" cy="4572000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C8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83080"/>
            <a:ext cx="52120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11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808A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46634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80" b="1">
                <a:solidFill>
                  <a:srgbClr val="00808A"/>
                </a:solidFill>
              </a:rPr>
              <a:t>• </a:t>
            </a:r>
            <a:r>
              <a:rPr sz="1080">
                <a:solidFill>
                  <a:srgbClr val="051840"/>
                </a:solidFill>
              </a:rPr>
              <a:t>NinaPro DB2 Exercise B was analyzed through EDA, baselines, GNN modeling, ablation, and explainability.</a:t>
            </a:r>
          </a:p>
          <a:p>
            <a:pPr>
              <a:spcAft>
                <a:spcPts val="400"/>
              </a:spcAft>
            </a:pPr>
            <a:r>
              <a:rPr sz="1080" b="1">
                <a:solidFill>
                  <a:srgbClr val="00808A"/>
                </a:solidFill>
              </a:rPr>
              <a:t>• </a:t>
            </a:r>
            <a:r>
              <a:rPr sz="1080">
                <a:solidFill>
                  <a:srgbClr val="051840"/>
                </a:solidFill>
              </a:rPr>
              <a:t>XGBoost was the strongest classical baseline: 77.69% accuracy / 77.39% Macro-F1.</a:t>
            </a:r>
          </a:p>
          <a:p>
            <a:pPr>
              <a:spcAft>
                <a:spcPts val="400"/>
              </a:spcAft>
            </a:pPr>
            <a:r>
              <a:rPr sz="1080" b="1">
                <a:solidFill>
                  <a:srgbClr val="00808A"/>
                </a:solidFill>
              </a:rPr>
              <a:t>• </a:t>
            </a:r>
            <a:r>
              <a:rPr sz="1080">
                <a:solidFill>
                  <a:srgbClr val="051840"/>
                </a:solidFill>
              </a:rPr>
              <a:t>Task 2 First ST-EGAT achieved the highest held-out score: 81.16% / 80.98%.</a:t>
            </a:r>
          </a:p>
          <a:p>
            <a:pPr>
              <a:spcAft>
                <a:spcPts val="400"/>
              </a:spcAft>
            </a:pPr>
            <a:r>
              <a:rPr sz="1080" b="1">
                <a:solidFill>
                  <a:srgbClr val="00808A"/>
                </a:solidFill>
              </a:rPr>
              <a:t>• </a:t>
            </a:r>
            <a:r>
              <a:rPr sz="1080">
                <a:solidFill>
                  <a:srgbClr val="051840"/>
                </a:solidFill>
              </a:rPr>
              <a:t>Task 3 Binary-Edge ST-EGAT achieved 80.37% / 80.20% and was validated with CV and XAI.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783080"/>
            <a:ext cx="47091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8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808A"/>
                </a:solidFill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514600"/>
            <a:ext cx="4206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00808A"/>
                </a:solidFill>
              </a:rPr>
              <a:t>• </a:t>
            </a:r>
            <a:r>
              <a:rPr sz="1200">
                <a:solidFill>
                  <a:srgbClr val="051840"/>
                </a:solidFill>
              </a:rPr>
              <a:t>Stronger spatial-temporal graph modeling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808A"/>
                </a:solidFill>
              </a:rPr>
              <a:t>• </a:t>
            </a:r>
            <a:r>
              <a:rPr sz="1200">
                <a:solidFill>
                  <a:srgbClr val="051840"/>
                </a:solidFill>
              </a:rPr>
              <a:t>Larger hyperparameter search and tuning budget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808A"/>
                </a:solidFill>
              </a:rPr>
              <a:t>• </a:t>
            </a:r>
            <a:r>
              <a:rPr sz="1200">
                <a:solidFill>
                  <a:srgbClr val="051840"/>
                </a:solidFill>
              </a:rPr>
              <a:t>Cross-subject generalization experiments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808A"/>
                </a:solidFill>
              </a:rPr>
              <a:t>• </a:t>
            </a:r>
            <a:r>
              <a:rPr sz="1200">
                <a:solidFill>
                  <a:srgbClr val="051840"/>
                </a:solidFill>
              </a:rPr>
              <a:t>Real-time deployment and deeper interpretability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52578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51840"/>
                </a:solidFill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760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65269"/>
                </a:solidFill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